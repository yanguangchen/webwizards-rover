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d947a036b24086" /><Relationship Type="http://schemas.openxmlformats.org/officeDocument/2006/relationships/extended-properties" Target="/docProps/app.xml" Id="Ra7dfd0f5e3c34a65" /><Relationship Type="http://schemas.openxmlformats.org/officeDocument/2006/relationships/officeDocument" Target="/ppt/presentation.xml" Id="R6dbf3c946e7a41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087b6780442e4"/>
  </p:sldMasterIdLst>
  <p:notesMasterIdLst>
    <p:notesMasterId xmlns:r="http://schemas.openxmlformats.org/officeDocument/2006/relationships" r:id="R76abb6f05a9e4904"/>
  </p:notesMasterIdLst>
  <p:sldIdLst>
    <p:sldId xmlns:r="http://schemas.openxmlformats.org/officeDocument/2006/relationships" id="256" r:id="Rd4b79d8597ff4c8e"/>
    <p:sldId xmlns:r="http://schemas.openxmlformats.org/officeDocument/2006/relationships" id="257" r:id="R5eaba0255c434ec3"/>
    <p:sldId xmlns:r="http://schemas.openxmlformats.org/officeDocument/2006/relationships" id="258" r:id="Re4bded2bc7d34f51"/>
    <p:sldId xmlns:r="http://schemas.openxmlformats.org/officeDocument/2006/relationships" id="259" r:id="R03e20ddd8d824bb2"/>
    <p:sldId xmlns:r="http://schemas.openxmlformats.org/officeDocument/2006/relationships" id="260" r:id="R5f04ad39a58e4dbe"/>
    <p:sldId xmlns:r="http://schemas.openxmlformats.org/officeDocument/2006/relationships" id="261" r:id="Ree74ad856cfa4161"/>
    <p:sldId xmlns:r="http://schemas.openxmlformats.org/officeDocument/2006/relationships" id="262" r:id="R8f953e734bd3455d"/>
    <p:sldId xmlns:r="http://schemas.openxmlformats.org/officeDocument/2006/relationships" id="263" r:id="Re976cdea6e3940ce"/>
    <p:sldId xmlns:r="http://schemas.openxmlformats.org/officeDocument/2006/relationships" id="264" r:id="Rb4bbe50ab5f84c56"/>
    <p:sldId xmlns:r="http://schemas.openxmlformats.org/officeDocument/2006/relationships" id="265" r:id="R37f588cee61443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e0595a1b414c9f" /><Relationship Type="http://schemas.openxmlformats.org/officeDocument/2006/relationships/slideMaster" Target="/ppt/slideMasters/slideMaster1.xml" Id="Ra70087b6780442e4" /><Relationship Type="http://schemas.openxmlformats.org/officeDocument/2006/relationships/notesMaster" Target="/ppt/notesMasters/notesMaster1.xml" Id="R76abb6f05a9e4904" /><Relationship Type="http://schemas.openxmlformats.org/officeDocument/2006/relationships/presProps" Target="/ppt/presProps.xml" Id="Rc16e45f2889f40a5" /><Relationship Type="http://schemas.openxmlformats.org/officeDocument/2006/relationships/tableStyles" Target="/ppt/tableStyles.xml" Id="R5633bf06abef4f72" /><Relationship Type="http://schemas.openxmlformats.org/officeDocument/2006/relationships/slide" Target="/ppt/slides/slide1.xml" Id="Rd4b79d8597ff4c8e" /><Relationship Type="http://schemas.openxmlformats.org/officeDocument/2006/relationships/slide" Target="/ppt/slides/slide2.xml" Id="R5eaba0255c434ec3" /><Relationship Type="http://schemas.openxmlformats.org/officeDocument/2006/relationships/slide" Target="/ppt/slides/slide3.xml" Id="Re4bded2bc7d34f51" /><Relationship Type="http://schemas.openxmlformats.org/officeDocument/2006/relationships/slide" Target="/ppt/slides/slide4.xml" Id="R03e20ddd8d824bb2" /><Relationship Type="http://schemas.openxmlformats.org/officeDocument/2006/relationships/slide" Target="/ppt/slides/slide5.xml" Id="R5f04ad39a58e4dbe" /><Relationship Type="http://schemas.openxmlformats.org/officeDocument/2006/relationships/slide" Target="/ppt/slides/slide6.xml" Id="Ree74ad856cfa4161" /><Relationship Type="http://schemas.openxmlformats.org/officeDocument/2006/relationships/slide" Target="/ppt/slides/slide7.xml" Id="R8f953e734bd3455d" /><Relationship Type="http://schemas.openxmlformats.org/officeDocument/2006/relationships/slide" Target="/ppt/slides/slide8.xml" Id="Re976cdea6e3940ce" /><Relationship Type="http://schemas.openxmlformats.org/officeDocument/2006/relationships/slide" Target="/ppt/slides/slide9.xml" Id="Rb4bbe50ab5f84c56" /><Relationship Type="http://schemas.openxmlformats.org/officeDocument/2006/relationships/slide" Target="/ppt/slides/slide10.xml" Id="R37f588cee61443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be6eb8a209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5a1435aaea4848" /><Relationship Type="http://schemas.openxmlformats.org/officeDocument/2006/relationships/notesMaster" Target="/ppt/notesMasters/notesMaster1.xml" Id="Rbb489f9cbe8a47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976579a931498b" /><Relationship Type="http://schemas.openxmlformats.org/officeDocument/2006/relationships/notesMaster" Target="/ppt/notesMasters/notesMaster1.xml" Id="Rf2de2c768c2c43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702afc3df54c59" /><Relationship Type="http://schemas.openxmlformats.org/officeDocument/2006/relationships/notesMaster" Target="/ppt/notesMasters/notesMaster1.xml" Id="R02c8cc198aab47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df00e1dc194ced" /><Relationship Type="http://schemas.openxmlformats.org/officeDocument/2006/relationships/notesMaster" Target="/ppt/notesMasters/notesMaster1.xml" Id="Rbbcd2137cd964d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fe7c6574024ed0" /><Relationship Type="http://schemas.openxmlformats.org/officeDocument/2006/relationships/notesMaster" Target="/ppt/notesMasters/notesMaster1.xml" Id="R8b748d8c360a46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9a34354f7c4de5" /><Relationship Type="http://schemas.openxmlformats.org/officeDocument/2006/relationships/notesMaster" Target="/ppt/notesMasters/notesMaster1.xml" Id="R06b279c69a4048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d0fdcc8c7544ed" /><Relationship Type="http://schemas.openxmlformats.org/officeDocument/2006/relationships/notesMaster" Target="/ppt/notesMasters/notesMaster1.xml" Id="R6e8d19c941264d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32fce94ad04517" /><Relationship Type="http://schemas.openxmlformats.org/officeDocument/2006/relationships/notesMaster" Target="/ppt/notesMasters/notesMaster1.xml" Id="R680b7683db9b4b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ecd479181a40b7" /><Relationship Type="http://schemas.openxmlformats.org/officeDocument/2006/relationships/notesMaster" Target="/ppt/notesMasters/notesMaster1.xml" Id="Rbfda9a80d2d64d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49b22c3efe463f" /><Relationship Type="http://schemas.openxmlformats.org/officeDocument/2006/relationships/notesMaster" Target="/ppt/notesMasters/notesMaster1.xml" Id="R2b95e8cc61464a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pitch: Rover is a Raspberry Pi camera prototype mounted on a wheeled chassis, with StampNote as the web viewing layer. Present remote driving as a product direction until the motor-control integration is demonstrated.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hypothesis for discovery interviews. The deck does not claim measured demand or quantified time savings. Ask potential users which remote checks they cannot complete with existing equipment.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photos show a black wheeled chassis, USB webcam, Raspberry Pi board and exposed connections. Raspberry Pi 4 identification comes from the setup history. No speed, battery life, range, payload, weather resistance or motor-control performance has been measured in the supplied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720p capture was verified in Chromium with the C270 during earlier setup sessions: videoWidth 1280, videoHeight 720, paused false and a live camera track. The boot service and direct /robotic-control launch passed a reboot test. The Google sign-in and live camera page status were verified. The later replacement webcam was not detected by Linux at the last check, so this is historical prototype evidence rather than a claim that the new camera is already validated. Automatic startStream() is now present in deployed page code, but capture depends on a detected compatible camera.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Operational flow based on the implemented Linux boot launcher, site camera code and Firebase sign-in. The page is https://stampnote-omega.vercel.app/robotic-control. Boot opening is verified. Page-level automatic camera activation is implemented in the deployed JavaScript as of 20 September 2026 and still needs end-to-end validation with the replacement webcam. The Live tunnel transport and access behaviour should be validated in the pilot; no recording retention or compliance capability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target market and use-case hypotheses, not current customers. The suggested first pilot is a small indoor workspace with the owner’s permission, a known Wi-Fi network and a defined visual inspection task. Home/pet viewing is an adjacent concept. Avoid care, safety-critical monitoring, outdoor autonomy or security guarantees until separately validated.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comparison of workflows, not a competitor feature audit. A fixed camera can pan or tilt but remains at its installed location. A phone video call relies on a person to position it. Rover’s mobility benefit is a proposed outcome contingent on safe motor-control integration. No claim of better price, latency, image quality, reliability or autonomy is made.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Business-model hypotheses for an early product pitch. No revenue, customers, funding, unit economics, price or market-size data were supplied. The recommended sequence is discovery and pilot evidence before selecting a commercial offer. Define pricing only after a bill of materials, assembly time, setup effort and ongoing support cost are 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sequence with no promised dates. First close the hardware and recovery gaps observed in this conversation. Then demonstrate safe motor control with an emergency stop and a defined operator workflow before a supervised pilot. Autonomous navigation, obstacle avoidance, battery endurance and outdoor use are not demonstrated capabilities.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call to action for partner or investor discussions, not an assertion that a pilot programme already has participants. Seek access to a small indoor test site and feedback on a concrete viewing task. Investment terms and a funding amount remain unspecified because the user has not supplied a budget or fundraising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user-provided prototype photos IMG_8361–IMG_8364, 21 September 2026, and the documented rover setup and diagnostic sessions on 19–20 September 2026. Product name Rover is a working name. Photos use AI-assisted background replacement and exposure cleanup. Original hardware photographs remain the authoritative engineering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04da4c80544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88fd138a0941c2" /><Relationship Type="http://schemas.openxmlformats.org/officeDocument/2006/relationships/slideLayout" Target="/ppt/slideLayouts/slideLayout1.xml" Id="R16cc9129f6a549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cc9129f6a549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c933a18ed4072" /><Relationship Type="http://schemas.openxmlformats.org/officeDocument/2006/relationships/image" Target="/ppt/media/image.png" Id="Rded3831dd95a4592" /><Relationship Type="http://schemas.openxmlformats.org/officeDocument/2006/relationships/notesSlide" Target="/ppt/notesSlides/notesSlide1.xml" Id="Rd5d73e0c061e47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c26c108e6439e" /><Relationship Type="http://schemas.openxmlformats.org/officeDocument/2006/relationships/notesSlide" Target="/ppt/notesSlides/notesSlide2.xml" Id="Rd22ce600b1db4c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f05fe7592473c" /><Relationship Type="http://schemas.openxmlformats.org/officeDocument/2006/relationships/image" Target="/ppt/media/image2.png" Id="R91db5d9efd394bfa" /><Relationship Type="http://schemas.openxmlformats.org/officeDocument/2006/relationships/notesSlide" Target="/ppt/notesSlides/notesSlide3.xml" Id="R8ed8b43dde804b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b2f58ada64b0e" /><Relationship Type="http://schemas.openxmlformats.org/officeDocument/2006/relationships/notesSlide" Target="/ppt/notesSlides/notesSlide4.xml" Id="R525c837dd7d843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3f4d77cd9425b" /><Relationship Type="http://schemas.openxmlformats.org/officeDocument/2006/relationships/image" Target="/ppt/media/image3.png" Id="R9ef81d52260b45d7" /><Relationship Type="http://schemas.openxmlformats.org/officeDocument/2006/relationships/notesSlide" Target="/ppt/notesSlides/notesSlide5.xml" Id="Rf84f1d7cbf9543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21f441fa241ac" /><Relationship Type="http://schemas.openxmlformats.org/officeDocument/2006/relationships/notesSlide" Target="/ppt/notesSlides/notesSlide6.xml" Id="R082f55cc3b4741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f71e2250e4610" /><Relationship Type="http://schemas.openxmlformats.org/officeDocument/2006/relationships/notesSlide" Target="/ppt/notesSlides/notesSlide7.xml" Id="Rdbafc441f6e544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8bec18c214096" /><Relationship Type="http://schemas.openxmlformats.org/officeDocument/2006/relationships/notesSlide" Target="/ppt/notesSlides/notesSlide8.xml" Id="R20f96b95995744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0f95afea74c26" /><Relationship Type="http://schemas.openxmlformats.org/officeDocument/2006/relationships/notesSlide" Target="/ppt/notesSlides/notesSlide9.xml" Id="Rb44d141275604b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156456f744bbb" /><Relationship Type="http://schemas.openxmlformats.org/officeDocument/2006/relationships/image" Target="/ppt/media/image4.png" Id="Rfb3344c3e5b34022" /><Relationship Type="http://schemas.openxmlformats.org/officeDocument/2006/relationships/notesSlide" Target="/ppt/notesSlides/notesSlide10.xml" Id="R1cd4d69496de4f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1EE22525-1EE2-4DB9-BACC-E20F135E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928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4928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3831dd95a4592"/>
          <a:stretch xmlns:a="http://schemas.openxmlformats.org/drawingml/2006/main"/>
        </p:blipFill>
        <p:spPr>
          <a:xfrm xmlns:a="http://schemas.openxmlformats.org/drawingml/2006/main">
            <a:off x="4895850" y="1054100"/>
            <a:ext cx="7124700" cy="4749800"/>
          </a:xfrm>
          <a:prstGeom xmlns:a="http://schemas.openxmlformats.org/drawingml/2006/main" prst="rect">
            <a:avLst/>
          </a:prstGeom>
        </p:spPr>
      </p:pic>
      <p:sp>
        <p:nvSpPr>
          <p:cNvPr id="3" name="ROVER">
            <a:extLst xmlns:a="http://schemas.openxmlformats.org/drawingml/2006/main">
              <a:ext uri="{FF2B5EF4-FFF2-40B4-BE49-F238E27FC236}">
                <a16:creationId xmlns:a16="http://schemas.microsoft.com/office/drawing/2014/main" id="{BA96F71D-DDD9-4ED5-8559-E477C8C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810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ROVER</a:t>
            </a:r>
          </a:p>
        </p:txBody>
      </p:sp>
      <p:sp>
        <p:nvSpPr>
          <p:cNvPr id="4" name="A robot platform for remote vision">
            <a:extLst xmlns:a="http://schemas.openxmlformats.org/drawingml/2006/main">
              <a:ext uri="{FF2B5EF4-FFF2-40B4-BE49-F238E27FC236}">
                <a16:creationId xmlns:a16="http://schemas.microsoft.com/office/drawing/2014/main" id="{CE5CB2FA-7DD8-49F2-8732-7FF08D2F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857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26715E"/>
                </a:solidFill>
                <a:latin typeface="Aptos"/>
                <a:ea typeface="Aptos"/>
                <a:cs typeface="Aptos"/>
              </a:rPr>
              <a:t>A robot platform</a:t>
            </a:r>
          </a:p>
          <a:p xmlns:a="http://schemas.openxmlformats.org/drawingml/2006/main">
            <a:pPr algn="l">
              <a:defRPr sz="3150" b="0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26715E"/>
                </a:solidFill>
                <a:latin typeface="Aptos"/>
                <a:ea typeface="Aptos"/>
                <a:cs typeface="Aptos"/>
              </a:rPr>
              <a:t>for remote vision</a:t>
            </a:r>
          </a:p>
        </p:txBody>
      </p:sp>
      <p:sp>
        <p:nvSpPr>
          <p:cNvPr id="5" name="Prototype pitch September 2026">
            <a:extLst xmlns:a="http://schemas.openxmlformats.org/drawingml/2006/main">
              <a:ext uri="{FF2B5EF4-FFF2-40B4-BE49-F238E27FC236}">
                <a16:creationId xmlns:a16="http://schemas.microsoft.com/office/drawing/2014/main" id="{4C141837-EEC7-4B2F-884A-7D774742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Prototype pitch</a:t>
            </a:r>
          </a:p>
          <a:p xmlns:a="http://schemas.openxmlformats.org/drawingml/2006/main">
            <a:pPr algn="l">
              <a:defRPr sz="17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95319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mote checks need a useful viewpoint">
            <a:extLst xmlns:a="http://schemas.openxmlformats.org/drawingml/2006/main">
              <a:ext uri="{FF2B5EF4-FFF2-40B4-BE49-F238E27FC236}">
                <a16:creationId xmlns:a16="http://schemas.microsoft.com/office/drawing/2014/main" id="{7A1E5026-3383-48C2-AB2F-B2556945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Remote checks need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useful viewpoint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0D13AB8B-CAFB-41BB-A5EB-CD804FF0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6BDB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DB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A live feed helps only when it shows the thing you need ">
            <a:extLst xmlns:a="http://schemas.openxmlformats.org/drawingml/2006/main">
              <a:ext uri="{FF2B5EF4-FFF2-40B4-BE49-F238E27FC236}">
                <a16:creationId xmlns:a16="http://schemas.microsoft.com/office/drawing/2014/main" id="{181053C4-F405-45BB-ABF7-DDF1FAC3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A live feed helps only when it shows the thing you need to check.</a:t>
            </a:r>
          </a:p>
        </p:txBody>
      </p:sp>
      <p:sp>
        <p:nvSpPr>
          <p:cNvPr id="4" name="Fixed viewpoints">
            <a:extLst xmlns:a="http://schemas.openxmlformats.org/drawingml/2006/main">
              <a:ext uri="{FF2B5EF4-FFF2-40B4-BE49-F238E27FC236}">
                <a16:creationId xmlns:a16="http://schemas.microsoft.com/office/drawing/2014/main" id="{78D4DCDA-D8E8-4471-8A40-149EAFF7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Fixed viewpoints</a:t>
            </a:r>
          </a:p>
        </p:txBody>
      </p:sp>
      <p:sp>
        <p:nvSpPr>
          <p:cNvPr id="5" name="A room camera can leave the relevant object or corner ou">
            <a:extLst xmlns:a="http://schemas.openxmlformats.org/drawingml/2006/main">
              <a:ext uri="{FF2B5EF4-FFF2-40B4-BE49-F238E27FC236}">
                <a16:creationId xmlns:a16="http://schemas.microsoft.com/office/drawing/2014/main" id="{536BCE6E-DBE4-4DAE-8B47-4D0CEE9C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A room camera can leave the relevant</a:t>
            </a:r>
          </a:p>
          <a:p xmlns:a="http://schemas.openxmlformats.org/drawingml/2006/main">
            <a:pPr algn="l">
              <a:defRPr sz="2175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object or corner outside its view.</a:t>
            </a:r>
          </a:p>
        </p:txBody>
      </p:sp>
      <p:sp>
        <p:nvSpPr>
          <p:cNvPr id="6" name="Someone has to go and look">
            <a:extLst xmlns:a="http://schemas.openxmlformats.org/drawingml/2006/main">
              <a:ext uri="{FF2B5EF4-FFF2-40B4-BE49-F238E27FC236}">
                <a16:creationId xmlns:a16="http://schemas.microsoft.com/office/drawing/2014/main" id="{B4F0D7DB-D6CC-4640-8C02-A2D87542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Someone has to go and look</a:t>
            </a:r>
          </a:p>
        </p:txBody>
      </p:sp>
      <p:sp>
        <p:nvSpPr>
          <p:cNvPr id="7" name="A closer inspection can still depend on a person being a">
            <a:extLst xmlns:a="http://schemas.openxmlformats.org/drawingml/2006/main">
              <a:ext uri="{FF2B5EF4-FFF2-40B4-BE49-F238E27FC236}">
                <a16:creationId xmlns:a16="http://schemas.microsoft.com/office/drawing/2014/main" id="{E685910B-5B80-417A-BDF6-1F00035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48125"/>
            <a:ext cx="5257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A closer inspection can still depend on</a:t>
            </a:r>
          </a:p>
          <a:p xmlns:a="http://schemas.openxmlformats.org/drawingml/2006/main">
            <a:pPr algn="l">
              <a:defRPr sz="2175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a person being available on site.</a:t>
            </a:r>
          </a:p>
        </p:txBody>
      </p:sp>
      <p:sp>
        <p:nvSpPr>
          <p:cNvPr id="8" name="Product opportunity: a camera platform that can change i">
            <a:extLst xmlns:a="http://schemas.openxmlformats.org/drawingml/2006/main">
              <a:ext uri="{FF2B5EF4-FFF2-40B4-BE49-F238E27FC236}">
                <a16:creationId xmlns:a16="http://schemas.microsoft.com/office/drawing/2014/main" id="{A01AB0F8-CA9E-4AAE-8C17-1BA53C8A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DDC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9DDC1"/>
                </a:solidFill>
                <a:latin typeface="Aptos"/>
                <a:ea typeface="Aptos"/>
                <a:cs typeface="Aptos"/>
              </a:rPr>
              <a:t>Product opportunity: a camera platform that can change its viewpoint.</a:t>
            </a:r>
          </a:p>
        </p:txBody>
      </p:sp>
    </p:spTree>
    <p:extLst>
      <p:ext uri="{BB962C8B-B14F-4D97-AF65-F5344CB8AC3E}">
        <p14:creationId xmlns:p14="http://schemas.microsoft.com/office/powerpoint/2010/main" val="1284026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he Rover prototype">
            <a:extLst xmlns:a="http://schemas.openxmlformats.org/drawingml/2006/main">
              <a:ext uri="{FF2B5EF4-FFF2-40B4-BE49-F238E27FC236}">
                <a16:creationId xmlns:a16="http://schemas.microsoft.com/office/drawing/2014/main" id="{CF00E334-10F2-4DEA-87BA-A5FF473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The Rover prototype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533E100D-C5C6-44BF-A180-225D4CC3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928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4928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b5d9efd394bfa"/>
          <a:stretch xmlns:a="http://schemas.openxmlformats.org/drawingml/2006/main"/>
        </p:blipFill>
        <p:spPr>
          <a:xfrm xmlns:a="http://schemas.openxmlformats.org/drawingml/2006/main">
            <a:off x="5410200" y="1811338"/>
            <a:ext cx="6524625" cy="4349750"/>
          </a:xfrm>
          <a:prstGeom xmlns:a="http://schemas.openxmlformats.org/drawingml/2006/main" prst="rect">
            <a:avLst/>
          </a:prstGeom>
        </p:spPr>
      </p:pic>
      <p:sp>
        <p:nvSpPr>
          <p:cNvPr id="4" name="USB webcam">
            <a:extLst xmlns:a="http://schemas.openxmlformats.org/drawingml/2006/main">
              <a:ext uri="{FF2B5EF4-FFF2-40B4-BE49-F238E27FC236}">
                <a16:creationId xmlns:a16="http://schemas.microsoft.com/office/drawing/2014/main" id="{52B39C97-7629-4C94-A124-CD2FC975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USB webcam</a:t>
            </a:r>
          </a:p>
        </p:txBody>
      </p:sp>
      <p:sp>
        <p:nvSpPr>
          <p:cNvPr id="5" name="A live view from the robot’s position.">
            <a:extLst xmlns:a="http://schemas.openxmlformats.org/drawingml/2006/main">
              <a:ext uri="{FF2B5EF4-FFF2-40B4-BE49-F238E27FC236}">
                <a16:creationId xmlns:a16="http://schemas.microsoft.com/office/drawing/2014/main" id="{198CEBEA-7CC7-4B3D-904B-008EF0D7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A live view from the robot’s position.</a:t>
            </a:r>
          </a:p>
        </p:txBody>
      </p:sp>
      <p:sp>
        <p:nvSpPr>
          <p:cNvPr id="6" name="Raspberry Pi 4">
            <a:extLst xmlns:a="http://schemas.openxmlformats.org/drawingml/2006/main">
              <a:ext uri="{FF2B5EF4-FFF2-40B4-BE49-F238E27FC236}">
                <a16:creationId xmlns:a16="http://schemas.microsoft.com/office/drawing/2014/main" id="{BE9CC0EA-AB37-4B61-8E68-180C4D84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Raspberry Pi 4</a:t>
            </a:r>
          </a:p>
        </p:txBody>
      </p:sp>
      <p:sp>
        <p:nvSpPr>
          <p:cNvPr id="7" name="Runs the operating system and StampNote in Chromium.">
            <a:extLst xmlns:a="http://schemas.openxmlformats.org/drawingml/2006/main">
              <a:ext uri="{FF2B5EF4-FFF2-40B4-BE49-F238E27FC236}">
                <a16:creationId xmlns:a16="http://schemas.microsoft.com/office/drawing/2014/main" id="{1E6EED05-1B82-4CE1-9018-4C3B1C15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Runs the operating system and</a:t>
            </a:r>
          </a:p>
          <a:p xmlns:a="http://schemas.openxmlformats.org/drawingml/2006/main">
            <a:pPr algn="l">
              <a:defRPr sz="195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StampNote in Chromium.</a:t>
            </a:r>
          </a:p>
        </p:txBody>
      </p:sp>
      <p:sp>
        <p:nvSpPr>
          <p:cNvPr id="8" name="Wheeled chassis">
            <a:extLst xmlns:a="http://schemas.openxmlformats.org/drawingml/2006/main">
              <a:ext uri="{FF2B5EF4-FFF2-40B4-BE49-F238E27FC236}">
                <a16:creationId xmlns:a16="http://schemas.microsoft.com/office/drawing/2014/main" id="{FD947FF4-99AF-4277-997E-AF7EEB74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Wheeled chassis</a:t>
            </a:r>
          </a:p>
        </p:txBody>
      </p:sp>
      <p:sp>
        <p:nvSpPr>
          <p:cNvPr id="9" name="A physical base for the next stage of remote movement de">
            <a:extLst xmlns:a="http://schemas.openxmlformats.org/drawingml/2006/main">
              <a:ext uri="{FF2B5EF4-FFF2-40B4-BE49-F238E27FC236}">
                <a16:creationId xmlns:a16="http://schemas.microsoft.com/office/drawing/2014/main" id="{67D356E5-D481-4E57-BA50-9FC40142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A physical base for the next stage</a:t>
            </a:r>
          </a:p>
          <a:p xmlns:a="http://schemas.openxmlformats.org/drawingml/2006/main">
            <a:pPr algn="l">
              <a:defRPr sz="195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of remote movement development.</a:t>
            </a:r>
          </a:p>
        </p:txBody>
      </p:sp>
    </p:spTree>
    <p:extLst>
      <p:ext uri="{BB962C8B-B14F-4D97-AF65-F5344CB8AC3E}">
        <p14:creationId xmlns:p14="http://schemas.microsoft.com/office/powerpoint/2010/main" val="1662042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 working camera foundation">
            <a:extLst xmlns:a="http://schemas.openxmlformats.org/drawingml/2006/main">
              <a:ext uri="{FF2B5EF4-FFF2-40B4-BE49-F238E27FC236}">
                <a16:creationId xmlns:a16="http://schemas.microsoft.com/office/drawing/2014/main" id="{71D7C1A2-0958-4B66-B118-A58850A8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A working camera foundation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5F5AF398-7242-4677-AA92-BF09BED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928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4928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720p">
            <a:extLst xmlns:a="http://schemas.openxmlformats.org/drawingml/2006/main">
              <a:ext uri="{FF2B5EF4-FFF2-40B4-BE49-F238E27FC236}">
                <a16:creationId xmlns:a16="http://schemas.microsoft.com/office/drawing/2014/main" id="{76F592D1-D2E8-452E-814E-167FB8BA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4686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7650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720p</a:t>
            </a:r>
          </a:p>
        </p:txBody>
      </p:sp>
      <p:sp>
        <p:nvSpPr>
          <p:cNvPr id="4" name="Live capture demonstrated">
            <a:extLst xmlns:a="http://schemas.openxmlformats.org/drawingml/2006/main">
              <a:ext uri="{FF2B5EF4-FFF2-40B4-BE49-F238E27FC236}">
                <a16:creationId xmlns:a16="http://schemas.microsoft.com/office/drawing/2014/main" id="{BA8331C5-4896-4FA6-805F-871F1702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Live capture demonstrated</a:t>
            </a:r>
          </a:p>
        </p:txBody>
      </p:sp>
      <p:sp>
        <p:nvSpPr>
          <p:cNvPr id="5" name="1280 × 720 video in Chromium with the earlier C270 webca">
            <a:extLst xmlns:a="http://schemas.openxmlformats.org/drawingml/2006/main">
              <a:ext uri="{FF2B5EF4-FFF2-40B4-BE49-F238E27FC236}">
                <a16:creationId xmlns:a16="http://schemas.microsoft.com/office/drawing/2014/main" id="{F773D8BD-ADA3-43DE-8FE7-1C9DAC2B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1280 × 720 video in Chromium</a:t>
            </a:r>
          </a:p>
          <a:p xmlns:a="http://schemas.openxmlformats.org/drawingml/2006/main">
            <a:pPr algn="l">
              <a:defRPr sz="210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with the earlier C270 webcam.</a:t>
            </a:r>
          </a:p>
        </p:txBody>
      </p:sp>
      <p:sp>
        <p:nvSpPr>
          <p:cNvPr id="6" name="Automatic browser startup">
            <a:extLst xmlns:a="http://schemas.openxmlformats.org/drawingml/2006/main">
              <a:ext uri="{FF2B5EF4-FFF2-40B4-BE49-F238E27FC236}">
                <a16:creationId xmlns:a16="http://schemas.microsoft.com/office/drawing/2014/main" id="{54D497C1-EB2A-43CF-9F3D-11CE0820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Automatic browser startup</a:t>
            </a:r>
          </a:p>
        </p:txBody>
      </p:sp>
      <p:sp>
        <p:nvSpPr>
          <p:cNvPr id="7" name="The Pi opens robotic-control after boot.">
            <a:extLst xmlns:a="http://schemas.openxmlformats.org/drawingml/2006/main">
              <a:ext uri="{FF2B5EF4-FFF2-40B4-BE49-F238E27FC236}">
                <a16:creationId xmlns:a16="http://schemas.microsoft.com/office/drawing/2014/main" id="{B4CEA451-2D5F-4361-A6D0-53C502EC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38425"/>
            <a:ext cx="5219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The Pi opens robotic-control after boot.</a:t>
            </a:r>
          </a:p>
        </p:txBody>
      </p:sp>
      <p:sp>
        <p:nvSpPr>
          <p:cNvPr id="8" name="Signed-in camera sharing">
            <a:extLst xmlns:a="http://schemas.openxmlformats.org/drawingml/2006/main">
              <a:ext uri="{FF2B5EF4-FFF2-40B4-BE49-F238E27FC236}">
                <a16:creationId xmlns:a16="http://schemas.microsoft.com/office/drawing/2014/main" id="{7DBB7EA1-F7A3-4A85-8E94-5BE62692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Signed-in camera sharing</a:t>
            </a:r>
          </a:p>
        </p:txBody>
      </p:sp>
      <p:sp>
        <p:nvSpPr>
          <p:cNvPr id="9" name="StampNote links the camera session to its Live tunnel vi">
            <a:extLst xmlns:a="http://schemas.openxmlformats.org/drawingml/2006/main">
              <a:ext uri="{FF2B5EF4-FFF2-40B4-BE49-F238E27FC236}">
                <a16:creationId xmlns:a16="http://schemas.microsoft.com/office/drawing/2014/main" id="{74D9A992-DB8D-48B9-8EA2-20188B0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5219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StampNote links the camera session</a:t>
            </a:r>
          </a:p>
          <a:p xmlns:a="http://schemas.openxmlformats.org/drawingml/2006/main">
            <a:pPr algn="l">
              <a:defRPr sz="20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to its Live tunnel viewing flow.</a:t>
            </a:r>
          </a:p>
        </p:txBody>
      </p:sp>
      <p:sp>
        <p:nvSpPr>
          <p:cNvPr id="10" name="Next validation: replacement webcam detection and automa">
            <a:extLst xmlns:a="http://schemas.openxmlformats.org/drawingml/2006/main">
              <a:ext uri="{FF2B5EF4-FFF2-40B4-BE49-F238E27FC236}">
                <a16:creationId xmlns:a16="http://schemas.microsoft.com/office/drawing/2014/main" id="{F80A96F6-882F-4170-9CEE-2962B0E8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81675"/>
            <a:ext cx="1090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6715E"/>
                </a:solidFill>
                <a:latin typeface="Aptos"/>
                <a:ea typeface="Aptos"/>
                <a:cs typeface="Aptos"/>
              </a:rPr>
              <a:t>Next validation: replacement webcam detection and automatic capture after boot.</a:t>
            </a:r>
          </a:p>
        </p:txBody>
      </p:sp>
    </p:spTree>
    <p:extLst>
      <p:ext uri="{BB962C8B-B14F-4D97-AF65-F5344CB8AC3E}">
        <p14:creationId xmlns:p14="http://schemas.microsoft.com/office/powerpoint/2010/main" val="2112949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tampNote is the viewing layer">
            <a:extLst xmlns:a="http://schemas.openxmlformats.org/drawingml/2006/main">
              <a:ext uri="{FF2B5EF4-FFF2-40B4-BE49-F238E27FC236}">
                <a16:creationId xmlns:a16="http://schemas.microsoft.com/office/drawing/2014/main" id="{ECF2F690-E9F9-4EA8-80AD-EDE1E08C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StampNote is the viewing layer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481BFFA7-94D1-4861-99C0-419F82B2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928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4928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The robot hosts the camera. StampNote provides the brows">
            <a:extLst xmlns:a="http://schemas.openxmlformats.org/drawingml/2006/main">
              <a:ext uri="{FF2B5EF4-FFF2-40B4-BE49-F238E27FC236}">
                <a16:creationId xmlns:a16="http://schemas.microsoft.com/office/drawing/2014/main" id="{8B0F1447-5E1A-40F4-B124-292E4151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62484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The robot hosts the camera.</a:t>
            </a:r>
          </a:p>
          <a:p xmlns:a="http://schemas.openxmlformats.org/drawingml/2006/main">
            <a:pPr algn="l">
              <a:defRPr sz="23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StampNote provides the browser session.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81d52260b45d7"/>
          <a:stretch xmlns:a="http://schemas.openxmlformats.org/drawingml/2006/main"/>
        </p:blipFill>
        <p:spPr>
          <a:xfrm xmlns:a="http://schemas.openxmlformats.org/drawingml/2006/main">
            <a:off x="1171575" y="2905125"/>
            <a:ext cx="5086350" cy="3390900"/>
          </a:xfrm>
          <a:prstGeom xmlns:a="http://schemas.openxmlformats.org/drawingml/2006/main" prst="rect">
            <a:avLst/>
          </a:prstGeom>
        </p:spPr>
      </p:pic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213B04E5-014C-40AC-993C-DC5BD4D9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7165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Power on">
            <a:extLst xmlns:a="http://schemas.openxmlformats.org/drawingml/2006/main">
              <a:ext uri="{FF2B5EF4-FFF2-40B4-BE49-F238E27FC236}">
                <a16:creationId xmlns:a16="http://schemas.microsoft.com/office/drawing/2014/main" id="{E7671106-9D54-4276-B005-2D6D1A83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Power on</a:t>
            </a:r>
          </a:p>
        </p:txBody>
      </p:sp>
      <p:sp>
        <p:nvSpPr>
          <p:cNvPr id="7" name="The Pi starts Chromium.">
            <a:extLst xmlns:a="http://schemas.openxmlformats.org/drawingml/2006/main">
              <a:ext uri="{FF2B5EF4-FFF2-40B4-BE49-F238E27FC236}">
                <a16:creationId xmlns:a16="http://schemas.microsoft.com/office/drawing/2014/main" id="{4BE3E969-0717-47E3-839B-0E91110B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19325"/>
            <a:ext cx="340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The Pi starts Chromium.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45FAE02A-508D-4F55-8159-2AF6117D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67025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Open robotic-control">
            <a:extLst xmlns:a="http://schemas.openxmlformats.org/drawingml/2006/main">
              <a:ext uri="{FF2B5EF4-FFF2-40B4-BE49-F238E27FC236}">
                <a16:creationId xmlns:a16="http://schemas.microsoft.com/office/drawing/2014/main" id="{D7C37B04-9D44-43A1-8BB1-060B7C58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6702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Open robotic-control</a:t>
            </a:r>
          </a:p>
        </p:txBody>
      </p:sp>
      <p:sp>
        <p:nvSpPr>
          <p:cNvPr id="10" name="The dedicated camera page loads.">
            <a:extLst xmlns:a="http://schemas.openxmlformats.org/drawingml/2006/main">
              <a:ext uri="{FF2B5EF4-FFF2-40B4-BE49-F238E27FC236}">
                <a16:creationId xmlns:a16="http://schemas.microsoft.com/office/drawing/2014/main" id="{5776A967-A864-4607-8A1D-103F6A3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340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The dedicated camera page loads.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842E289F-50B1-40BA-86B9-D20BAB7D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Start the camera">
            <a:extLst xmlns:a="http://schemas.openxmlformats.org/drawingml/2006/main">
              <a:ext uri="{FF2B5EF4-FFF2-40B4-BE49-F238E27FC236}">
                <a16:creationId xmlns:a16="http://schemas.microsoft.com/office/drawing/2014/main" id="{CA7072D2-060D-4AE2-BD78-52BAD199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Start the camera</a:t>
            </a:r>
          </a:p>
        </p:txBody>
      </p:sp>
      <p:sp>
        <p:nvSpPr>
          <p:cNvPr id="13" name="The site requests the USB webcam.">
            <a:extLst xmlns:a="http://schemas.openxmlformats.org/drawingml/2006/main">
              <a:ext uri="{FF2B5EF4-FFF2-40B4-BE49-F238E27FC236}">
                <a16:creationId xmlns:a16="http://schemas.microsoft.com/office/drawing/2014/main" id="{E5F2E555-49F2-4D04-8A21-E45610F9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340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The site requests the USB webcam.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5A661F0D-57B7-4AF5-9EC9-10C3E475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57775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Share the live view">
            <a:extLst xmlns:a="http://schemas.openxmlformats.org/drawingml/2006/main">
              <a:ext uri="{FF2B5EF4-FFF2-40B4-BE49-F238E27FC236}">
                <a16:creationId xmlns:a16="http://schemas.microsoft.com/office/drawing/2014/main" id="{6A044792-9F98-44C5-B6AE-EB4540F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577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Share the live view</a:t>
            </a:r>
          </a:p>
        </p:txBody>
      </p:sp>
      <p:sp>
        <p:nvSpPr>
          <p:cNvPr id="16" name="A signed-in session enables Live tunnel.">
            <a:extLst xmlns:a="http://schemas.openxmlformats.org/drawingml/2006/main">
              <a:ext uri="{FF2B5EF4-FFF2-40B4-BE49-F238E27FC236}">
                <a16:creationId xmlns:a16="http://schemas.microsoft.com/office/drawing/2014/main" id="{B14F6949-E77F-451F-B37A-7B7E23E3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05450"/>
            <a:ext cx="340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A signed-in session enables Live tunnel.</a:t>
            </a:r>
          </a:p>
        </p:txBody>
      </p:sp>
    </p:spTree>
    <p:extLst>
      <p:ext uri="{BB962C8B-B14F-4D97-AF65-F5344CB8AC3E}">
        <p14:creationId xmlns:p14="http://schemas.microsoft.com/office/powerpoint/2010/main" val="784418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rst pilot: indoor visual checks">
            <a:extLst xmlns:a="http://schemas.openxmlformats.org/drawingml/2006/main">
              <a:ext uri="{FF2B5EF4-FFF2-40B4-BE49-F238E27FC236}">
                <a16:creationId xmlns:a16="http://schemas.microsoft.com/office/drawing/2014/main" id="{6AE0EB14-BE73-44AB-A794-F17E6801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First pilot: indoor visual checks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DEAE8CE8-FE11-43CE-8AEE-61835607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928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4928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Suggested starting point: small workshops and private wo">
            <a:extLst xmlns:a="http://schemas.openxmlformats.org/drawingml/2006/main">
              <a:ext uri="{FF2B5EF4-FFF2-40B4-BE49-F238E27FC236}">
                <a16:creationId xmlns:a16="http://schemas.microsoft.com/office/drawing/2014/main" id="{58EEE93A-45F7-4CCF-9A1A-1D4A9541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6715E"/>
                </a:solidFill>
                <a:latin typeface="Aptos"/>
                <a:ea typeface="Aptos"/>
                <a:cs typeface="Aptos"/>
              </a:rPr>
              <a:t>Suggested starting point: small workshops and private workspaces.</a:t>
            </a:r>
          </a:p>
        </p:txBody>
      </p:sp>
      <p:sp>
        <p:nvSpPr>
          <p:cNvPr id="4" name="Check a workspace remotely">
            <a:extLst xmlns:a="http://schemas.openxmlformats.org/drawingml/2006/main">
              <a:ext uri="{FF2B5EF4-FFF2-40B4-BE49-F238E27FC236}">
                <a16:creationId xmlns:a16="http://schemas.microsoft.com/office/drawing/2014/main" id="{E7B93222-B3EB-4743-9A8B-F6921F1C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Check a workspace remotely</a:t>
            </a:r>
          </a:p>
        </p:txBody>
      </p:sp>
      <p:sp>
        <p:nvSpPr>
          <p:cNvPr id="5" name="See a bench, doorway or storage area without arranging a">
            <a:extLst xmlns:a="http://schemas.openxmlformats.org/drawingml/2006/main">
              <a:ext uri="{FF2B5EF4-FFF2-40B4-BE49-F238E27FC236}">
                <a16:creationId xmlns:a16="http://schemas.microsoft.com/office/drawing/2014/main" id="{39242A63-9B79-4277-B082-140D13C5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See a bench, doorway or storage area</a:t>
            </a:r>
          </a:p>
          <a:p xmlns:a="http://schemas.openxmlformats.org/drawingml/2006/main">
            <a:pPr algn="l">
              <a:defRPr sz="210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without arranging a video call.</a:t>
            </a:r>
          </a:p>
        </p:txBody>
      </p:sp>
      <p:sp>
        <p:nvSpPr>
          <p:cNvPr id="6" name="Investigate a changed view">
            <a:extLst xmlns:a="http://schemas.openxmlformats.org/drawingml/2006/main">
              <a:ext uri="{FF2B5EF4-FFF2-40B4-BE49-F238E27FC236}">
                <a16:creationId xmlns:a16="http://schemas.microsoft.com/office/drawing/2014/main" id="{CC63BA79-7CA2-4FA4-B993-04BCD2EC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622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Investigate a changed view</a:t>
            </a:r>
          </a:p>
        </p:txBody>
      </p:sp>
      <p:sp>
        <p:nvSpPr>
          <p:cNvPr id="7" name="Test whether a new camera angle helps answer a specific ">
            <a:extLst xmlns:a="http://schemas.openxmlformats.org/drawingml/2006/main">
              <a:ext uri="{FF2B5EF4-FFF2-40B4-BE49-F238E27FC236}">
                <a16:creationId xmlns:a16="http://schemas.microsoft.com/office/drawing/2014/main" id="{EC8D681F-5990-4016-821D-99CBD348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48075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Test whether a new camera angle</a:t>
            </a:r>
          </a:p>
          <a:p xmlns:a="http://schemas.openxmlformats.org/drawingml/2006/main">
            <a:pPr algn="l">
              <a:defRPr sz="2100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helps answer a specific question.</a:t>
            </a:r>
          </a:p>
        </p:txBody>
      </p:sp>
      <p:sp>
        <p:nvSpPr>
          <p:cNvPr id="8" name="Pilot boundaries">
            <a:extLst xmlns:a="http://schemas.openxmlformats.org/drawingml/2006/main">
              <a:ext uri="{FF2B5EF4-FFF2-40B4-BE49-F238E27FC236}">
                <a16:creationId xmlns:a16="http://schemas.microsoft.com/office/drawing/2014/main" id="{F9D771B1-1B6C-4B2C-85E1-639688F0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Pilot boundaries</a:t>
            </a:r>
          </a:p>
        </p:txBody>
      </p:sp>
      <p:sp>
        <p:nvSpPr>
          <p:cNvPr id="9" name="Known indoor space. Consenting users. Supervised movemen">
            <a:extLst xmlns:a="http://schemas.openxmlformats.org/drawingml/2006/main">
              <a:ext uri="{FF2B5EF4-FFF2-40B4-BE49-F238E27FC236}">
                <a16:creationId xmlns:a16="http://schemas.microsoft.com/office/drawing/2014/main" id="{27069494-B280-4A99-9D16-53B135F5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Known indoor space. Consenting users. Supervised movement once validated.</a:t>
            </a:r>
          </a:p>
        </p:txBody>
      </p:sp>
    </p:spTree>
    <p:extLst>
      <p:ext uri="{BB962C8B-B14F-4D97-AF65-F5344CB8AC3E}">
        <p14:creationId xmlns:p14="http://schemas.microsoft.com/office/powerpoint/2010/main" val="1189572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Where Rover could fit">
            <a:extLst xmlns:a="http://schemas.openxmlformats.org/drawingml/2006/main">
              <a:ext uri="{FF2B5EF4-FFF2-40B4-BE49-F238E27FC236}">
                <a16:creationId xmlns:a16="http://schemas.microsoft.com/office/drawing/2014/main" id="{C63535F9-9F73-4C59-A228-5FCE43B9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Where Rover could fit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EE451960-4ECC-42A4-8326-AD6F70E6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928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4928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A potential middle ground between an installed camera an">
            <a:extLst xmlns:a="http://schemas.openxmlformats.org/drawingml/2006/main">
              <a:ext uri="{FF2B5EF4-FFF2-40B4-BE49-F238E27FC236}">
                <a16:creationId xmlns:a16="http://schemas.microsoft.com/office/drawing/2014/main" id="{E52C1E25-15A5-4DC5-B6A2-24E0D6EE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A potential middle ground between an installed camera and an on-site person.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43150"/>
                <a:gridCol w="2590800"/>
                <a:gridCol w="2762250"/>
                <a:gridCol w="3276600"/>
              </a:tblGrid>
              <a:tr h="552450"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Workflow</a:t>
                      </a:r>
                    </a:p>
                  </a:txBody>
                  <a:tcPr marL="91440" marR="91440" marT="45720" marB="45720" anchor="ctr">
                    <a:solidFill>
                      <a:srgbClr val="132D2A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Fixed camera</a:t>
                      </a:r>
                    </a:p>
                  </a:txBody>
                  <a:tcPr marL="91440" marR="91440" marT="45720" marB="45720" anchor="ctr">
                    <a:solidFill>
                      <a:srgbClr val="132D2A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Phone video call</a:t>
                      </a:r>
                    </a:p>
                  </a:txBody>
                  <a:tcPr marL="91440" marR="91440" marT="45720" marB="45720" anchor="ctr">
                    <a:solidFill>
                      <a:srgbClr val="132D2A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Rover concept</a:t>
                      </a:r>
                    </a:p>
                  </a:txBody>
                  <a:tcPr marL="91440" marR="91440" marT="45720" marB="45720" anchor="ctr">
                    <a:solidFill>
                      <a:srgbClr val="132D2A"/>
                    </a:solidFill>
                  </a:tcPr>
                </a:tc>
              </a:tr>
              <a:tr h="628650"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Viewpoint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Installed location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Person positions 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Wheeled platform</a:t>
                      </a:r>
                    </a:p>
                  </a:txBody>
                  <a:tcPr marL="91440" marR="91440" marT="45720" marB="45720" anchor="ctr">
                    <a:solidFill>
                      <a:srgbClr val="E8F2EC"/>
                    </a:solidFill>
                  </a:tcPr>
                </a:tc>
              </a:tr>
              <a:tr h="628650"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On-site help</a:t>
                      </a:r>
                    </a:p>
                  </a:txBody>
                  <a:tcPr marL="91440" marR="91440" marT="45720" marB="45720" anchor="ctr">
                    <a:solidFill>
                      <a:srgbClr val="F8FAF8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Setup and adjustment</a:t>
                      </a:r>
                    </a:p>
                  </a:txBody>
                  <a:tcPr marL="91440" marR="91440" marT="45720" marB="45720" anchor="ctr">
                    <a:solidFill>
                      <a:srgbClr val="F8FAF8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Needed during the call</a:t>
                      </a:r>
                    </a:p>
                  </a:txBody>
                  <a:tcPr marL="91440" marR="91440" marT="45720" marB="45720" anchor="ctr">
                    <a:solidFill>
                      <a:srgbClr val="F8FAF8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Goal: less routine help</a:t>
                      </a:r>
                    </a:p>
                  </a:txBody>
                  <a:tcPr marL="91440" marR="91440" marT="45720" marB="45720" anchor="ctr">
                    <a:solidFill>
                      <a:srgbClr val="E8F2EC"/>
                    </a:solidFill>
                  </a:tcPr>
                </a:tc>
              </a:tr>
              <a:tr h="628650"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User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Camera app or browser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Calling app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StampNote browser</a:t>
                      </a:r>
                    </a:p>
                  </a:txBody>
                  <a:tcPr marL="91440" marR="91440" marT="45720" marB="45720" anchor="ctr">
                    <a:solidFill>
                      <a:srgbClr val="E8F2EC"/>
                    </a:solidFill>
                  </a:tcPr>
                </a:tc>
              </a:tr>
              <a:tr h="628650"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Best initial role</a:t>
                      </a:r>
                    </a:p>
                  </a:txBody>
                  <a:tcPr marL="91440" marR="91440" marT="45720" marB="45720" anchor="ctr">
                    <a:solidFill>
                      <a:srgbClr val="F8FAF8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Continuous fixed view</a:t>
                      </a:r>
                    </a:p>
                  </a:txBody>
                  <a:tcPr marL="91440" marR="91440" marT="45720" marB="45720" anchor="ctr">
                    <a:solidFill>
                      <a:srgbClr val="F8FAF8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Guided human inspection</a:t>
                      </a:r>
                    </a:p>
                  </a:txBody>
                  <a:tcPr marL="91440" marR="91440" marT="45720" marB="45720" anchor="ctr">
                    <a:solidFill>
                      <a:srgbClr val="F8FAF8"/>
                    </a:solidFill>
                  </a:tcPr>
                </a:tc>
                <a:tc>
                  <a:txBody>
                    <a:bodyPr lIns="13335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D2A"/>
                          </a:solidFill>
                          <a:latin typeface="Aptos"/>
                          <a:ea typeface="Aptos"/>
                          <a:cs typeface="Aptos"/>
                        </a:rPr>
                        <a:t>Remote visual checks</a:t>
                      </a:r>
                    </a:p>
                  </a:txBody>
                  <a:tcPr marL="91440" marR="91440" marT="45720" marB="45720" anchor="ctr">
                    <a:solidFill>
                      <a:srgbClr val="E8F2EC"/>
                    </a:solidFill>
                  </a:tcPr>
                </a:tc>
              </a:tr>
            </a:tbl>
          </a:graphicData>
        </a:graphic>
      </p:graphicFrame>
      <p:sp>
        <p:nvSpPr>
          <p:cNvPr id="5" name="Remote driving remains a development milestone.">
            <a:extLst xmlns:a="http://schemas.openxmlformats.org/drawingml/2006/main">
              <a:ext uri="{FF2B5EF4-FFF2-40B4-BE49-F238E27FC236}">
                <a16:creationId xmlns:a16="http://schemas.microsoft.com/office/drawing/2014/main" id="{7CCF7FFC-ED03-48CA-8C29-38725EF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6715E"/>
                </a:solidFill>
                <a:latin typeface="Aptos"/>
                <a:ea typeface="Aptos"/>
                <a:cs typeface="Aptos"/>
              </a:rPr>
              <a:t>Remote driving remains a development milestone.</a:t>
            </a:r>
          </a:p>
        </p:txBody>
      </p:sp>
    </p:spTree>
    <p:extLst>
      <p:ext uri="{BB962C8B-B14F-4D97-AF65-F5344CB8AC3E}">
        <p14:creationId xmlns:p14="http://schemas.microsoft.com/office/powerpoint/2010/main" val="1781491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2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 route to first revenue">
            <a:extLst xmlns:a="http://schemas.openxmlformats.org/drawingml/2006/main">
              <a:ext uri="{FF2B5EF4-FFF2-40B4-BE49-F238E27FC236}">
                <a16:creationId xmlns:a16="http://schemas.microsoft.com/office/drawing/2014/main" id="{1223CA82-7C21-4E1C-8714-C87F559E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route to first revenue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46BC8B0A-2948-4A40-9F12-AE7BF8A5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6BDB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DB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Proposed model">
            <a:extLst xmlns:a="http://schemas.openxmlformats.org/drawingml/2006/main">
              <a:ext uri="{FF2B5EF4-FFF2-40B4-BE49-F238E27FC236}">
                <a16:creationId xmlns:a16="http://schemas.microsoft.com/office/drawing/2014/main" id="{FED27D5A-4D4A-4875-952A-EBA9E469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DDC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9DDC1"/>
                </a:solidFill>
                <a:latin typeface="Aptos"/>
                <a:ea typeface="Aptos"/>
                <a:cs typeface="Aptos"/>
              </a:rPr>
              <a:t>Proposed model</a:t>
            </a:r>
          </a:p>
        </p:txBody>
      </p:sp>
      <p:sp>
        <p:nvSpPr>
          <p:cNvPr id="4" name="Pilot engagement">
            <a:extLst xmlns:a="http://schemas.openxmlformats.org/drawingml/2006/main">
              <a:ext uri="{FF2B5EF4-FFF2-40B4-BE49-F238E27FC236}">
                <a16:creationId xmlns:a16="http://schemas.microsoft.com/office/drawing/2014/main" id="{52BC670A-C4E4-4059-B017-B8A6FE9D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engagement</a:t>
            </a:r>
          </a:p>
        </p:txBody>
      </p:sp>
      <p:sp>
        <p:nvSpPr>
          <p:cNvPr id="5" name="Work with a small number of owners to define and test a ">
            <a:extLst xmlns:a="http://schemas.openxmlformats.org/drawingml/2006/main">
              <a:ext uri="{FF2B5EF4-FFF2-40B4-BE49-F238E27FC236}">
                <a16:creationId xmlns:a16="http://schemas.microsoft.com/office/drawing/2014/main" id="{B7A5A784-7E98-4831-BFD0-F0CE38F3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Work with a small number of owners</a:t>
            </a:r>
          </a:p>
          <a:p xmlns:a="http://schemas.openxmlformats.org/drawingml/2006/main">
            <a:pPr algn="l">
              <a:defRPr sz="2175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to define and test a useful visual check.</a:t>
            </a:r>
          </a:p>
        </p:txBody>
      </p:sp>
      <p:sp>
        <p:nvSpPr>
          <p:cNvPr id="6" name="Hardware and setup">
            <a:extLst xmlns:a="http://schemas.openxmlformats.org/drawingml/2006/main">
              <a:ext uri="{FF2B5EF4-FFF2-40B4-BE49-F238E27FC236}">
                <a16:creationId xmlns:a16="http://schemas.microsoft.com/office/drawing/2014/main" id="{CA463685-5059-4350-B18C-DB657B7E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95575"/>
            <a:ext cx="5276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Hardware and setup</a:t>
            </a:r>
          </a:p>
        </p:txBody>
      </p:sp>
      <p:sp>
        <p:nvSpPr>
          <p:cNvPr id="7" name="Offer a configured robot once reliability and support ne">
            <a:extLst xmlns:a="http://schemas.openxmlformats.org/drawingml/2006/main">
              <a:ext uri="{FF2B5EF4-FFF2-40B4-BE49-F238E27FC236}">
                <a16:creationId xmlns:a16="http://schemas.microsoft.com/office/drawing/2014/main" id="{923F2130-4BDA-4DB6-AF50-81FC2B73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0425"/>
            <a:ext cx="5276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Offer a configured robot once reliability</a:t>
            </a:r>
          </a:p>
          <a:p xmlns:a="http://schemas.openxmlformats.org/drawingml/2006/main">
            <a:pPr algn="l">
              <a:defRPr sz="2175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and support needs are understood.</a:t>
            </a:r>
          </a:p>
        </p:txBody>
      </p:sp>
      <p:sp>
        <p:nvSpPr>
          <p:cNvPr id="8" name="Optional recurring service">
            <a:extLst xmlns:a="http://schemas.openxmlformats.org/drawingml/2006/main">
              <a:ext uri="{FF2B5EF4-FFF2-40B4-BE49-F238E27FC236}">
                <a16:creationId xmlns:a16="http://schemas.microsoft.com/office/drawing/2014/main" id="{6AB86973-6F44-443C-BDF0-3BAB17A8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recurring service</a:t>
            </a:r>
          </a:p>
        </p:txBody>
      </p:sp>
      <p:sp>
        <p:nvSpPr>
          <p:cNvPr id="9" name="Support and fleet management, if pilots demonstrate a co">
            <a:extLst xmlns:a="http://schemas.openxmlformats.org/drawingml/2006/main">
              <a:ext uri="{FF2B5EF4-FFF2-40B4-BE49-F238E27FC236}">
                <a16:creationId xmlns:a16="http://schemas.microsoft.com/office/drawing/2014/main" id="{536C32BE-D0BA-4A3A-BB17-CDD34E03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BE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BE3"/>
                </a:solidFill>
                <a:latin typeface="Aptos"/>
                <a:ea typeface="Aptos"/>
                <a:cs typeface="Aptos"/>
              </a:rPr>
              <a:t>Support and fleet management, if pilots demonstrate a continuing need.</a:t>
            </a:r>
          </a:p>
        </p:txBody>
      </p:sp>
    </p:spTree>
    <p:extLst>
      <p:ext uri="{BB962C8B-B14F-4D97-AF65-F5344CB8AC3E}">
        <p14:creationId xmlns:p14="http://schemas.microsoft.com/office/powerpoint/2010/main" val="9918013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next build priorities">
            <a:extLst xmlns:a="http://schemas.openxmlformats.org/drawingml/2006/main">
              <a:ext uri="{FF2B5EF4-FFF2-40B4-BE49-F238E27FC236}">
                <a16:creationId xmlns:a16="http://schemas.microsoft.com/office/drawing/2014/main" id="{0148FD1A-CF48-4E55-908F-A8788B10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The next build priorities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D38D2B7E-6A26-4D78-B0BE-ECC529C2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928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4928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B25A539C-2AFA-44D0-9093-E9BC429A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93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Reliable capture">
            <a:extLst xmlns:a="http://schemas.openxmlformats.org/drawingml/2006/main">
              <a:ext uri="{FF2B5EF4-FFF2-40B4-BE49-F238E27FC236}">
                <a16:creationId xmlns:a16="http://schemas.microsoft.com/office/drawing/2014/main" id="{865E8277-73DF-4454-A4D1-885E11EE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28825"/>
            <a:ext cx="9696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Reliable capture</a:t>
            </a:r>
          </a:p>
        </p:txBody>
      </p:sp>
      <p:sp>
        <p:nvSpPr>
          <p:cNvPr id="5" name="Validate the new webcam, boot capture and recovery after">
            <a:extLst xmlns:a="http://schemas.openxmlformats.org/drawingml/2006/main">
              <a:ext uri="{FF2B5EF4-FFF2-40B4-BE49-F238E27FC236}">
                <a16:creationId xmlns:a16="http://schemas.microsoft.com/office/drawing/2014/main" id="{08D98FAF-90E9-44FF-800B-450531E5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969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Validate the new webcam, boot capture and recovery after Wi-Fi loss.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C48B47F9-1D85-49FE-B279-D3CF6F3A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93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Safe remote movement">
            <a:extLst xmlns:a="http://schemas.openxmlformats.org/drawingml/2006/main">
              <a:ext uri="{FF2B5EF4-FFF2-40B4-BE49-F238E27FC236}">
                <a16:creationId xmlns:a16="http://schemas.microsoft.com/office/drawing/2014/main" id="{7E14CB5A-FE1F-4F73-92DF-9E9EF264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52800"/>
            <a:ext cx="9696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Safe remote movement</a:t>
            </a:r>
          </a:p>
        </p:txBody>
      </p:sp>
      <p:sp>
        <p:nvSpPr>
          <p:cNvPr id="8" name="Integrate motor control, a stop action and supervised dr">
            <a:extLst xmlns:a="http://schemas.openxmlformats.org/drawingml/2006/main">
              <a:ext uri="{FF2B5EF4-FFF2-40B4-BE49-F238E27FC236}">
                <a16:creationId xmlns:a16="http://schemas.microsoft.com/office/drawing/2014/main" id="{1206FB2F-98C1-4337-83D5-374063F5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969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Integrate motor control, a stop action and supervised driving tests.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576A33F5-D1C8-4F72-9D5F-1DE2E94A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93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A repeatable pilot">
            <a:extLst xmlns:a="http://schemas.openxmlformats.org/drawingml/2006/main">
              <a:ext uri="{FF2B5EF4-FFF2-40B4-BE49-F238E27FC236}">
                <a16:creationId xmlns:a16="http://schemas.microsoft.com/office/drawing/2014/main" id="{90D57002-625B-4756-B2D5-32C57DC6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76775"/>
            <a:ext cx="9696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A repeatable pilot</a:t>
            </a:r>
          </a:p>
        </p:txBody>
      </p:sp>
      <p:sp>
        <p:nvSpPr>
          <p:cNvPr id="11" name="Measure setup effort, useful checks completed and suppor">
            <a:extLst xmlns:a="http://schemas.openxmlformats.org/drawingml/2006/main">
              <a:ext uri="{FF2B5EF4-FFF2-40B4-BE49-F238E27FC236}">
                <a16:creationId xmlns:a16="http://schemas.microsoft.com/office/drawing/2014/main" id="{5E8734B4-696C-471F-8B67-242AA6B4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48275"/>
            <a:ext cx="969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Measure setup effort, useful checks completed and support needs.</a:t>
            </a:r>
          </a:p>
        </p:txBody>
      </p:sp>
      <p:sp>
        <p:nvSpPr>
          <p:cNvPr id="12" name="Success means a repeatable viewing task, not simply a wo">
            <a:extLst xmlns:a="http://schemas.openxmlformats.org/drawingml/2006/main">
              <a:ext uri="{FF2B5EF4-FFF2-40B4-BE49-F238E27FC236}">
                <a16:creationId xmlns:a16="http://schemas.microsoft.com/office/drawing/2014/main" id="{F2275950-98A0-4523-8FE3-9B213F6C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6715E"/>
                </a:solidFill>
                <a:latin typeface="Aptos"/>
                <a:ea typeface="Aptos"/>
                <a:cs typeface="Aptos"/>
              </a:rPr>
              <a:t>Success means a repeatable viewing task, not simply a working demo.</a:t>
            </a:r>
          </a:p>
        </p:txBody>
      </p:sp>
    </p:spTree>
    <p:extLst>
      <p:ext uri="{BB962C8B-B14F-4D97-AF65-F5344CB8AC3E}">
        <p14:creationId xmlns:p14="http://schemas.microsoft.com/office/powerpoint/2010/main" val="3517638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lot partners for the next build">
            <a:extLst xmlns:a="http://schemas.openxmlformats.org/drawingml/2006/main">
              <a:ext uri="{FF2B5EF4-FFF2-40B4-BE49-F238E27FC236}">
                <a16:creationId xmlns:a16="http://schemas.microsoft.com/office/drawing/2014/main" id="{FB55AC85-6327-4234-BF8E-75C9DB57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Pilot partners for the next build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09989E3D-57DE-4A29-94F0-254D2ED4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928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4928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344c3e5b34022"/>
          <a:stretch xmlns:a="http://schemas.openxmlformats.org/drawingml/2006/main"/>
        </p:blipFill>
        <p:spPr>
          <a:xfrm xmlns:a="http://schemas.openxmlformats.org/drawingml/2006/main">
            <a:off x="5391150" y="1876425"/>
            <a:ext cx="6572250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A real prototype. A clear next experiment.">
            <a:extLst xmlns:a="http://schemas.openxmlformats.org/drawingml/2006/main">
              <a:ext uri="{FF2B5EF4-FFF2-40B4-BE49-F238E27FC236}">
                <a16:creationId xmlns:a16="http://schemas.microsoft.com/office/drawing/2014/main" id="{0017D6DF-733A-4511-AA31-8274DA7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5048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A real prototype.</a:t>
            </a:r>
          </a:p>
          <a:p xmlns:a="http://schemas.openxmlformats.org/drawingml/2006/main">
            <a:pPr algn="l">
              <a:defRPr sz="2925" b="1">
                <a:solidFill>
                  <a:srgbClr val="26715E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26715E"/>
                </a:solidFill>
                <a:latin typeface="Aptos"/>
                <a:ea typeface="Aptos"/>
                <a:cs typeface="Aptos"/>
              </a:rPr>
              <a:t>A clear next experiment.</a:t>
            </a:r>
          </a:p>
        </p:txBody>
      </p:sp>
      <p:sp>
        <p:nvSpPr>
          <p:cNvPr id="5" name="We are looking for a small indoor site and an owner will">
            <a:extLst xmlns:a="http://schemas.openxmlformats.org/drawingml/2006/main">
              <a:ext uri="{FF2B5EF4-FFF2-40B4-BE49-F238E27FC236}">
                <a16:creationId xmlns:a16="http://schemas.microsoft.com/office/drawing/2014/main" id="{2832192B-15E0-4F92-80BE-7765C6A1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4857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We are looking for a small indoor site</a:t>
            </a:r>
          </a:p>
          <a:p xmlns:a="http://schemas.openxmlformats.org/drawingml/2006/main">
            <a:pPr algn="l">
              <a:defRPr sz="217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and an owner willing to test a</a:t>
            </a:r>
          </a:p>
          <a:p xmlns:a="http://schemas.openxmlformats.org/drawingml/2006/main">
            <a:pPr algn="l">
              <a:defRPr sz="217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useful remote viewing task.</a:t>
            </a:r>
          </a:p>
        </p:txBody>
      </p:sp>
      <p:sp>
        <p:nvSpPr>
          <p:cNvPr id="6" name="Next milestone">
            <a:extLst xmlns:a="http://schemas.openxmlformats.org/drawingml/2006/main">
              <a:ext uri="{FF2B5EF4-FFF2-40B4-BE49-F238E27FC236}">
                <a16:creationId xmlns:a16="http://schemas.microsoft.com/office/drawing/2014/main" id="{1C9D017F-C2DF-4E49-912F-BCD30923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D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2D2A"/>
                </a:solidFill>
                <a:latin typeface="Aptos"/>
                <a:ea typeface="Aptos"/>
                <a:cs typeface="Aptos"/>
              </a:rPr>
              <a:t>Next milestone</a:t>
            </a:r>
          </a:p>
        </p:txBody>
      </p:sp>
      <p:sp>
        <p:nvSpPr>
          <p:cNvPr id="7" name="A reliable session from power-on to a usable live view.">
            <a:extLst xmlns:a="http://schemas.openxmlformats.org/drawingml/2006/main">
              <a:ext uri="{FF2B5EF4-FFF2-40B4-BE49-F238E27FC236}">
                <a16:creationId xmlns:a16="http://schemas.microsoft.com/office/drawing/2014/main" id="{15BD10D7-8EBF-4DE4-8E7F-91D6CD04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A reliable session from power-on</a:t>
            </a:r>
          </a:p>
          <a:p xmlns:a="http://schemas.openxmlformats.org/drawingml/2006/main">
            <a:pPr algn="l">
              <a:defRPr sz="2025" b="0">
                <a:solidFill>
                  <a:srgbClr val="5367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763"/>
                </a:solidFill>
                <a:latin typeface="Aptos"/>
                <a:ea typeface="Aptos"/>
                <a:cs typeface="Aptos"/>
              </a:rPr>
              <a:t>to a usable live view.</a:t>
            </a:r>
          </a:p>
        </p:txBody>
      </p:sp>
    </p:spTree>
    <p:extLst>
      <p:ext uri="{BB962C8B-B14F-4D97-AF65-F5344CB8AC3E}">
        <p14:creationId xmlns:p14="http://schemas.microsoft.com/office/powerpoint/2010/main" val="2012425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2026-09-21T05:15:56.3520000Z</dcterms:created>
  <dcterms:modified xsi:type="dcterms:W3CDTF">2026-09-21T05:15:56.3520000Z</dcterms:modified>
</coreProperties>
</file>